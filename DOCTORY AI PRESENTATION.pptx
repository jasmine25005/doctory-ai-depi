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al MT Pro" panose="020B0604020202020204" charset="0"/>
      <p:regular r:id="rId14"/>
    </p:embeddedFont>
    <p:embeddedFont>
      <p:font typeface="Arimo" panose="020B0604020202020204" charset="0"/>
      <p:regular r:id="rId15"/>
    </p:embeddedFont>
    <p:embeddedFont>
      <p:font typeface="IBM Plex Sans" panose="020F0502020204030204" pitchFamily="34" charset="0"/>
      <p:regular r:id="rId16"/>
    </p:embeddedFont>
    <p:embeddedFont>
      <p:font typeface="Roboto Slab" panose="020F0502020204030204" pitchFamily="2" charset="0"/>
      <p:regular r:id="rId17"/>
    </p:embeddedFont>
    <p:embeddedFont>
      <p:font typeface="Roboto Slab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3" d="100"/>
          <a:sy n="33" d="100"/>
        </p:scale>
        <p:origin x="94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tory-pouhpcj3cmummjd5bis9m6.streamlit.app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8606200"/>
            <a:ext cx="18288000" cy="574200"/>
            <a:chOff x="0" y="0"/>
            <a:chExt cx="24384000" cy="76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765556"/>
            </a:xfrm>
            <a:custGeom>
              <a:avLst/>
              <a:gdLst/>
              <a:ahLst/>
              <a:cxnLst/>
              <a:rect l="l" t="t" r="r" b="b"/>
              <a:pathLst>
                <a:path w="24384000" h="765556">
                  <a:moveTo>
                    <a:pt x="24384000" y="0"/>
                  </a:moveTo>
                  <a:lnTo>
                    <a:pt x="0" y="0"/>
                  </a:lnTo>
                  <a:lnTo>
                    <a:pt x="0" y="765556"/>
                  </a:lnTo>
                  <a:lnTo>
                    <a:pt x="24384000" y="765556"/>
                  </a:lnTo>
                  <a:close/>
                </a:path>
              </a:pathLst>
            </a:custGeom>
            <a:solidFill>
              <a:srgbClr val="D0E7E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-10800000">
            <a:off x="0" y="9175800"/>
            <a:ext cx="18288000" cy="1111200"/>
            <a:chOff x="0" y="0"/>
            <a:chExt cx="24384000" cy="148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481582"/>
            </a:xfrm>
            <a:custGeom>
              <a:avLst/>
              <a:gdLst/>
              <a:ahLst/>
              <a:cxnLst/>
              <a:rect l="l" t="t" r="r" b="b"/>
              <a:pathLst>
                <a:path w="24384000" h="1481582">
                  <a:moveTo>
                    <a:pt x="24384000" y="0"/>
                  </a:moveTo>
                  <a:lnTo>
                    <a:pt x="0" y="0"/>
                  </a:lnTo>
                  <a:lnTo>
                    <a:pt x="0" y="1481582"/>
                  </a:lnTo>
                  <a:lnTo>
                    <a:pt x="24384000" y="1481582"/>
                  </a:lnTo>
                  <a:close/>
                </a:path>
              </a:pathLst>
            </a:custGeom>
            <a:solidFill>
              <a:srgbClr val="B2D6E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63764" y="3409078"/>
            <a:ext cx="7060003" cy="380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23"/>
              </a:lnSpc>
            </a:pPr>
            <a:r>
              <a:rPr lang="en-US" sz="8353" b="1" dirty="0">
                <a:solidFill>
                  <a:srgbClr val="345C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DOCTORY AI</a:t>
            </a:r>
          </a:p>
          <a:p>
            <a:pPr algn="l">
              <a:lnSpc>
                <a:spcPts val="10023"/>
              </a:lnSpc>
            </a:pPr>
            <a:endParaRPr lang="en-US" sz="8353" b="1" dirty="0">
              <a:solidFill>
                <a:srgbClr val="345CAC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  <a:p>
            <a:pPr algn="l">
              <a:lnSpc>
                <a:spcPts val="10023"/>
              </a:lnSpc>
            </a:pPr>
            <a:endParaRPr lang="en-US" sz="8353" b="1" dirty="0">
              <a:solidFill>
                <a:srgbClr val="345CAC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4753072"/>
            <a:ext cx="7834059" cy="1098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AI-Powered Early Medical Assessment for a Healthier Tomorrow</a:t>
            </a:r>
          </a:p>
        </p:txBody>
      </p:sp>
      <p:sp>
        <p:nvSpPr>
          <p:cNvPr id="8" name="Freeform 8"/>
          <p:cNvSpPr/>
          <p:nvPr/>
        </p:nvSpPr>
        <p:spPr>
          <a:xfrm>
            <a:off x="11734800" y="3080835"/>
            <a:ext cx="4086602" cy="6092048"/>
          </a:xfrm>
          <a:custGeom>
            <a:avLst/>
            <a:gdLst/>
            <a:ahLst/>
            <a:cxnLst/>
            <a:rect l="l" t="t" r="r" b="b"/>
            <a:pathLst>
              <a:path w="4086602" h="6092048">
                <a:moveTo>
                  <a:pt x="0" y="0"/>
                </a:moveTo>
                <a:lnTo>
                  <a:pt x="4086602" y="0"/>
                </a:lnTo>
                <a:lnTo>
                  <a:pt x="4086602" y="6092048"/>
                </a:lnTo>
                <a:lnTo>
                  <a:pt x="0" y="6092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3479" r="3479" b="-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AutoShape 9"/>
          <p:cNvSpPr/>
          <p:nvPr/>
        </p:nvSpPr>
        <p:spPr>
          <a:xfrm>
            <a:off x="1163811" y="4695922"/>
            <a:ext cx="7698948" cy="38100"/>
          </a:xfrm>
          <a:prstGeom prst="line">
            <a:avLst/>
          </a:prstGeom>
          <a:ln w="19050" cap="rnd">
            <a:solidFill>
              <a:srgbClr val="345C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7719767" y="3651493"/>
            <a:ext cx="1008000" cy="962223"/>
          </a:xfrm>
          <a:custGeom>
            <a:avLst/>
            <a:gdLst/>
            <a:ahLst/>
            <a:cxnLst/>
            <a:rect l="l" t="t" r="r" b="b"/>
            <a:pathLst>
              <a:path w="1008000" h="962223">
                <a:moveTo>
                  <a:pt x="0" y="0"/>
                </a:moveTo>
                <a:lnTo>
                  <a:pt x="1008000" y="0"/>
                </a:lnTo>
                <a:lnTo>
                  <a:pt x="1008000" y="962223"/>
                </a:lnTo>
                <a:lnTo>
                  <a:pt x="0" y="962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8639350"/>
            <a:ext cx="18288000" cy="574200"/>
            <a:chOff x="0" y="0"/>
            <a:chExt cx="24384000" cy="76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765556"/>
            </a:xfrm>
            <a:custGeom>
              <a:avLst/>
              <a:gdLst/>
              <a:ahLst/>
              <a:cxnLst/>
              <a:rect l="l" t="t" r="r" b="b"/>
              <a:pathLst>
                <a:path w="24384000" h="765556">
                  <a:moveTo>
                    <a:pt x="24384000" y="0"/>
                  </a:moveTo>
                  <a:lnTo>
                    <a:pt x="0" y="0"/>
                  </a:lnTo>
                  <a:lnTo>
                    <a:pt x="0" y="765556"/>
                  </a:lnTo>
                  <a:lnTo>
                    <a:pt x="24384000" y="765556"/>
                  </a:lnTo>
                  <a:close/>
                </a:path>
              </a:pathLst>
            </a:custGeom>
            <a:solidFill>
              <a:srgbClr val="D0E7E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-10800000">
            <a:off x="0" y="9208950"/>
            <a:ext cx="18288000" cy="1111200"/>
            <a:chOff x="0" y="0"/>
            <a:chExt cx="24384000" cy="148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481582"/>
            </a:xfrm>
            <a:custGeom>
              <a:avLst/>
              <a:gdLst/>
              <a:ahLst/>
              <a:cxnLst/>
              <a:rect l="l" t="t" r="r" b="b"/>
              <a:pathLst>
                <a:path w="24384000" h="1481582">
                  <a:moveTo>
                    <a:pt x="24384000" y="0"/>
                  </a:moveTo>
                  <a:lnTo>
                    <a:pt x="0" y="0"/>
                  </a:lnTo>
                  <a:lnTo>
                    <a:pt x="0" y="1481582"/>
                  </a:lnTo>
                  <a:lnTo>
                    <a:pt x="24384000" y="1481582"/>
                  </a:lnTo>
                  <a:close/>
                </a:path>
              </a:pathLst>
            </a:custGeom>
            <a:solidFill>
              <a:srgbClr val="B2D6E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96537" y="1028700"/>
            <a:ext cx="11494926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802"/>
              </a:lnSpc>
            </a:pPr>
            <a:r>
              <a:rPr lang="en-US" sz="9001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Problem We Address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96537" y="3055707"/>
            <a:ext cx="11494926" cy="485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19"/>
              </a:lnSpc>
              <a:buFont typeface="Arial"/>
              <a:buChar char="•"/>
            </a:pPr>
            <a:r>
              <a:rPr lang="en-US" sz="3999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Millions of people struggle to access fast medical screening.</a:t>
            </a:r>
          </a:p>
          <a:p>
            <a:pPr marL="863599" lvl="1" indent="-431800" algn="l">
              <a:lnSpc>
                <a:spcPts val="5519"/>
              </a:lnSpc>
              <a:buFont typeface="Arial"/>
              <a:buChar char="•"/>
            </a:pPr>
            <a:r>
              <a:rPr lang="en-US" sz="3999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 Delays in diagnosis can lead to serious complications.</a:t>
            </a:r>
          </a:p>
          <a:p>
            <a:pPr marL="863599" lvl="1" indent="-431800" algn="l">
              <a:lnSpc>
                <a:spcPts val="5519"/>
              </a:lnSpc>
              <a:buFont typeface="Arial"/>
              <a:buChar char="•"/>
            </a:pPr>
            <a:r>
              <a:rPr lang="en-US" sz="3999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 Doctory AI offers an instant, AI-powered pre-check that supports patients before reaching a doctor.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9859350"/>
            <a:ext cx="18288000" cy="460800"/>
            <a:chOff x="0" y="0"/>
            <a:chExt cx="24384000" cy="61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614426"/>
            </a:xfrm>
            <a:custGeom>
              <a:avLst/>
              <a:gdLst/>
              <a:ahLst/>
              <a:cxnLst/>
              <a:rect l="l" t="t" r="r" b="b"/>
              <a:pathLst>
                <a:path w="24384000" h="614426">
                  <a:moveTo>
                    <a:pt x="24384000" y="0"/>
                  </a:moveTo>
                  <a:lnTo>
                    <a:pt x="0" y="0"/>
                  </a:lnTo>
                  <a:lnTo>
                    <a:pt x="0" y="614426"/>
                  </a:lnTo>
                  <a:lnTo>
                    <a:pt x="24384000" y="614426"/>
                  </a:lnTo>
                  <a:close/>
                </a:path>
              </a:pathLst>
            </a:custGeom>
            <a:solidFill>
              <a:srgbClr val="B2D6E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-10800000">
            <a:off x="0" y="9623192"/>
            <a:ext cx="18288000" cy="238200"/>
            <a:chOff x="0" y="0"/>
            <a:chExt cx="24384000" cy="317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17627"/>
            </a:xfrm>
            <a:custGeom>
              <a:avLst/>
              <a:gdLst/>
              <a:ahLst/>
              <a:cxnLst/>
              <a:rect l="l" t="t" r="r" b="b"/>
              <a:pathLst>
                <a:path w="24384000" h="317627">
                  <a:moveTo>
                    <a:pt x="24384000" y="0"/>
                  </a:moveTo>
                  <a:lnTo>
                    <a:pt x="0" y="0"/>
                  </a:lnTo>
                  <a:lnTo>
                    <a:pt x="0" y="317627"/>
                  </a:lnTo>
                  <a:lnTo>
                    <a:pt x="24384000" y="317627"/>
                  </a:lnTo>
                  <a:close/>
                </a:path>
              </a:pathLst>
            </a:custGeom>
            <a:solidFill>
              <a:srgbClr val="D0E7E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896260"/>
            <a:ext cx="15225150" cy="1518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19"/>
              </a:lnSpc>
            </a:pPr>
            <a:r>
              <a:rPr lang="en-US" sz="9000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Project Overview</a:t>
            </a:r>
          </a:p>
        </p:txBody>
      </p:sp>
      <p:sp>
        <p:nvSpPr>
          <p:cNvPr id="7" name="Freeform 7"/>
          <p:cNvSpPr/>
          <p:nvPr/>
        </p:nvSpPr>
        <p:spPr>
          <a:xfrm rot="-5861128">
            <a:off x="15540130" y="596054"/>
            <a:ext cx="2289642" cy="2271096"/>
          </a:xfrm>
          <a:custGeom>
            <a:avLst/>
            <a:gdLst/>
            <a:ahLst/>
            <a:cxnLst/>
            <a:rect l="l" t="t" r="r" b="b"/>
            <a:pathLst>
              <a:path w="2289642" h="2271096">
                <a:moveTo>
                  <a:pt x="0" y="0"/>
                </a:moveTo>
                <a:lnTo>
                  <a:pt x="2289642" y="0"/>
                </a:lnTo>
                <a:lnTo>
                  <a:pt x="2289642" y="2271096"/>
                </a:lnTo>
                <a:lnTo>
                  <a:pt x="0" y="2271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3264643"/>
            <a:ext cx="14506313" cy="485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5519"/>
              </a:lnSpc>
              <a:buFont typeface="Arial"/>
              <a:buChar char="•"/>
            </a:pPr>
            <a:r>
              <a:rPr lang="en-US" sz="3999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Doctory AI is an intelligent platform that analyzes medical images and patient data to</a:t>
            </a:r>
          </a:p>
          <a:p>
            <a:pPr marL="863599" lvl="1" indent="-431800" algn="just">
              <a:lnSpc>
                <a:spcPts val="5519"/>
              </a:lnSpc>
              <a:buFont typeface="Arial"/>
              <a:buChar char="•"/>
            </a:pPr>
            <a:r>
              <a:rPr lang="en-US" sz="3999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deliver quick, early health assessments.</a:t>
            </a:r>
          </a:p>
          <a:p>
            <a:pPr marL="863599" lvl="1" indent="-431800" algn="just">
              <a:lnSpc>
                <a:spcPts val="5519"/>
              </a:lnSpc>
              <a:buFont typeface="Arial"/>
              <a:buChar char="•"/>
            </a:pPr>
            <a:r>
              <a:rPr lang="en-US" sz="3999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The system brings together deep-learning models and natural-language intelligence to</a:t>
            </a:r>
          </a:p>
          <a:p>
            <a:pPr marL="863599" lvl="1" indent="-431800" algn="just">
              <a:lnSpc>
                <a:spcPts val="5519"/>
              </a:lnSpc>
              <a:buFont typeface="Arial"/>
              <a:buChar char="•"/>
            </a:pPr>
            <a:r>
              <a:rPr lang="en-US" sz="3999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 make medical feedback simple, clear, and accessible.</a:t>
            </a:r>
          </a:p>
          <a:p>
            <a:pPr algn="ctr">
              <a:lnSpc>
                <a:spcPts val="5519"/>
              </a:lnSpc>
              <a:spcBef>
                <a:spcPct val="0"/>
              </a:spcBef>
            </a:pPr>
            <a:endParaRPr lang="en-US" sz="3999">
              <a:solidFill>
                <a:srgbClr val="345CAC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8639350"/>
            <a:ext cx="18288000" cy="574200"/>
            <a:chOff x="0" y="0"/>
            <a:chExt cx="24384000" cy="76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765556"/>
            </a:xfrm>
            <a:custGeom>
              <a:avLst/>
              <a:gdLst/>
              <a:ahLst/>
              <a:cxnLst/>
              <a:rect l="l" t="t" r="r" b="b"/>
              <a:pathLst>
                <a:path w="24384000" h="765556">
                  <a:moveTo>
                    <a:pt x="24384000" y="0"/>
                  </a:moveTo>
                  <a:lnTo>
                    <a:pt x="0" y="0"/>
                  </a:lnTo>
                  <a:lnTo>
                    <a:pt x="0" y="765556"/>
                  </a:lnTo>
                  <a:lnTo>
                    <a:pt x="24384000" y="765556"/>
                  </a:lnTo>
                  <a:close/>
                </a:path>
              </a:pathLst>
            </a:custGeom>
            <a:solidFill>
              <a:srgbClr val="D0E7E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-10800000">
            <a:off x="0" y="9208950"/>
            <a:ext cx="18288000" cy="1111200"/>
            <a:chOff x="0" y="0"/>
            <a:chExt cx="24384000" cy="148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481582"/>
            </a:xfrm>
            <a:custGeom>
              <a:avLst/>
              <a:gdLst/>
              <a:ahLst/>
              <a:cxnLst/>
              <a:rect l="l" t="t" r="r" b="b"/>
              <a:pathLst>
                <a:path w="24384000" h="1481582">
                  <a:moveTo>
                    <a:pt x="24384000" y="0"/>
                  </a:moveTo>
                  <a:lnTo>
                    <a:pt x="0" y="0"/>
                  </a:lnTo>
                  <a:lnTo>
                    <a:pt x="0" y="1481582"/>
                  </a:lnTo>
                  <a:lnTo>
                    <a:pt x="24384000" y="1481582"/>
                  </a:lnTo>
                  <a:close/>
                </a:path>
              </a:pathLst>
            </a:custGeom>
            <a:solidFill>
              <a:srgbClr val="B2D6E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051524" y="2311616"/>
            <a:ext cx="9638550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8400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Vision &amp; Purpose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63612" y="3949916"/>
            <a:ext cx="11160775" cy="425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830"/>
              </a:lnSpc>
              <a:buFont typeface="Arial"/>
              <a:buChar char="•"/>
            </a:pPr>
            <a:r>
              <a:rPr lang="en-US" sz="35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Make early health screening available to everyone.</a:t>
            </a:r>
          </a:p>
          <a:p>
            <a:pPr marL="755651" lvl="1" indent="-377825" algn="l">
              <a:lnSpc>
                <a:spcPts val="4830"/>
              </a:lnSpc>
              <a:buFont typeface="Arial"/>
              <a:buChar char="•"/>
            </a:pPr>
            <a:r>
              <a:rPr lang="en-US" sz="35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 AI to simplify complex medical information.</a:t>
            </a:r>
          </a:p>
          <a:p>
            <a:pPr marL="755651" lvl="1" indent="-377825" algn="l">
              <a:lnSpc>
                <a:spcPts val="4830"/>
              </a:lnSpc>
              <a:buFont typeface="Arial"/>
              <a:buChar char="•"/>
            </a:pPr>
            <a:r>
              <a:rPr lang="en-US" sz="35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Provide supportive, human-like explanations that patients can easily understand.</a:t>
            </a:r>
          </a:p>
          <a:p>
            <a:pPr marL="755651" lvl="1" indent="-377825" algn="l">
              <a:lnSpc>
                <a:spcPts val="4830"/>
              </a:lnSpc>
              <a:buFont typeface="Arial"/>
              <a:buChar char="•"/>
            </a:pPr>
            <a:r>
              <a:rPr lang="en-US" sz="35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Combine multiple medical tests into one unified platform.</a:t>
            </a:r>
          </a:p>
          <a:p>
            <a:pPr algn="l">
              <a:lnSpc>
                <a:spcPts val="4830"/>
              </a:lnSpc>
            </a:pPr>
            <a:endParaRPr lang="en-US" sz="3500">
              <a:solidFill>
                <a:srgbClr val="345CA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" name="Freeform 8"/>
          <p:cNvSpPr/>
          <p:nvPr/>
        </p:nvSpPr>
        <p:spPr>
          <a:xfrm rot="10101948" flipH="1">
            <a:off x="1519764" y="2824916"/>
            <a:ext cx="1940366" cy="2039472"/>
          </a:xfrm>
          <a:custGeom>
            <a:avLst/>
            <a:gdLst/>
            <a:ahLst/>
            <a:cxnLst/>
            <a:rect l="l" t="t" r="r" b="b"/>
            <a:pathLst>
              <a:path w="1940366" h="2039472">
                <a:moveTo>
                  <a:pt x="1940366" y="0"/>
                </a:moveTo>
                <a:lnTo>
                  <a:pt x="0" y="0"/>
                </a:lnTo>
                <a:lnTo>
                  <a:pt x="0" y="2039472"/>
                </a:lnTo>
                <a:lnTo>
                  <a:pt x="1940366" y="2039472"/>
                </a:lnTo>
                <a:lnTo>
                  <a:pt x="1940366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7544555">
            <a:off x="14122970" y="2739404"/>
            <a:ext cx="2900758" cy="2218892"/>
          </a:xfrm>
          <a:custGeom>
            <a:avLst/>
            <a:gdLst/>
            <a:ahLst/>
            <a:cxnLst/>
            <a:rect l="l" t="t" r="r" b="b"/>
            <a:pathLst>
              <a:path w="2900758" h="2218892">
                <a:moveTo>
                  <a:pt x="0" y="0"/>
                </a:moveTo>
                <a:lnTo>
                  <a:pt x="2900758" y="0"/>
                </a:lnTo>
                <a:lnTo>
                  <a:pt x="2900758" y="2218892"/>
                </a:lnTo>
                <a:lnTo>
                  <a:pt x="0" y="2218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9623192"/>
            <a:ext cx="18288000" cy="238200"/>
            <a:chOff x="0" y="0"/>
            <a:chExt cx="24384000" cy="317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17627"/>
            </a:xfrm>
            <a:custGeom>
              <a:avLst/>
              <a:gdLst/>
              <a:ahLst/>
              <a:cxnLst/>
              <a:rect l="l" t="t" r="r" b="b"/>
              <a:pathLst>
                <a:path w="24384000" h="317627">
                  <a:moveTo>
                    <a:pt x="24384000" y="0"/>
                  </a:moveTo>
                  <a:lnTo>
                    <a:pt x="0" y="0"/>
                  </a:lnTo>
                  <a:lnTo>
                    <a:pt x="0" y="317627"/>
                  </a:lnTo>
                  <a:lnTo>
                    <a:pt x="24384000" y="317627"/>
                  </a:lnTo>
                  <a:close/>
                </a:path>
              </a:pathLst>
            </a:custGeom>
            <a:solidFill>
              <a:srgbClr val="D0E7E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-10800000">
            <a:off x="0" y="9859350"/>
            <a:ext cx="18288000" cy="460800"/>
            <a:chOff x="0" y="0"/>
            <a:chExt cx="24384000" cy="61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614426"/>
            </a:xfrm>
            <a:custGeom>
              <a:avLst/>
              <a:gdLst/>
              <a:ahLst/>
              <a:cxnLst/>
              <a:rect l="l" t="t" r="r" b="b"/>
              <a:pathLst>
                <a:path w="24384000" h="614426">
                  <a:moveTo>
                    <a:pt x="24384000" y="0"/>
                  </a:moveTo>
                  <a:lnTo>
                    <a:pt x="0" y="0"/>
                  </a:lnTo>
                  <a:lnTo>
                    <a:pt x="0" y="614426"/>
                  </a:lnTo>
                  <a:lnTo>
                    <a:pt x="24384000" y="614426"/>
                  </a:lnTo>
                  <a:close/>
                </a:path>
              </a:pathLst>
            </a:custGeom>
            <a:solidFill>
              <a:srgbClr val="B2D6E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970408"/>
            <a:ext cx="15225150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What Our System Can Do</a:t>
            </a:r>
          </a:p>
        </p:txBody>
      </p:sp>
      <p:sp>
        <p:nvSpPr>
          <p:cNvPr id="7" name="Freeform 7"/>
          <p:cNvSpPr/>
          <p:nvPr/>
        </p:nvSpPr>
        <p:spPr>
          <a:xfrm rot="4035508">
            <a:off x="15387730" y="443654"/>
            <a:ext cx="2289642" cy="2271096"/>
          </a:xfrm>
          <a:custGeom>
            <a:avLst/>
            <a:gdLst/>
            <a:ahLst/>
            <a:cxnLst/>
            <a:rect l="l" t="t" r="r" b="b"/>
            <a:pathLst>
              <a:path w="2289642" h="2271096">
                <a:moveTo>
                  <a:pt x="0" y="0"/>
                </a:moveTo>
                <a:lnTo>
                  <a:pt x="2289642" y="0"/>
                </a:lnTo>
                <a:lnTo>
                  <a:pt x="2289642" y="2271096"/>
                </a:lnTo>
                <a:lnTo>
                  <a:pt x="0" y="2271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2322958"/>
            <a:ext cx="11226692" cy="4621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47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dirty="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Analyze chest X-rays for early signs of pneumonia.</a:t>
            </a:r>
          </a:p>
          <a:p>
            <a:pPr marL="863599" lvl="1" indent="-431800" algn="l">
              <a:lnSpc>
                <a:spcPts val="47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dirty="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Detect malaria from microscopic images.</a:t>
            </a:r>
          </a:p>
          <a:p>
            <a:pPr marL="863599" lvl="1" indent="-431800" algn="l">
              <a:lnSpc>
                <a:spcPts val="47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dirty="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Estimate diabetes &amp; Heart Disease risks using patient records.</a:t>
            </a:r>
          </a:p>
          <a:p>
            <a:pPr marL="863599" lvl="1" indent="-431800" algn="l">
              <a:lnSpc>
                <a:spcPts val="47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dirty="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Generate friendly, medical explanations using an LLM.</a:t>
            </a:r>
          </a:p>
          <a:p>
            <a:pPr algn="ctr">
              <a:lnSpc>
                <a:spcPts val="1928"/>
              </a:lnSpc>
              <a:spcBef>
                <a:spcPct val="0"/>
              </a:spcBef>
            </a:pPr>
            <a:endParaRPr lang="en-US" sz="3999" dirty="0">
              <a:solidFill>
                <a:srgbClr val="345CA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31425" y="7036291"/>
            <a:ext cx="1003005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  <a:spcBef>
                <a:spcPct val="0"/>
              </a:spcBef>
            </a:pPr>
            <a:r>
              <a:rPr lang="en-US" sz="40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Everything works together as one seamless diagnostic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10800000">
            <a:off x="0" y="9208950"/>
            <a:ext cx="18288000" cy="1111200"/>
            <a:chOff x="0" y="0"/>
            <a:chExt cx="24384000" cy="148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481582"/>
            </a:xfrm>
            <a:custGeom>
              <a:avLst/>
              <a:gdLst/>
              <a:ahLst/>
              <a:cxnLst/>
              <a:rect l="l" t="t" r="r" b="b"/>
              <a:pathLst>
                <a:path w="24384000" h="1481582">
                  <a:moveTo>
                    <a:pt x="24384000" y="0"/>
                  </a:moveTo>
                  <a:lnTo>
                    <a:pt x="0" y="0"/>
                  </a:lnTo>
                  <a:lnTo>
                    <a:pt x="0" y="1481582"/>
                  </a:lnTo>
                  <a:lnTo>
                    <a:pt x="24384000" y="1481582"/>
                  </a:lnTo>
                  <a:close/>
                </a:path>
              </a:pathLst>
            </a:custGeom>
            <a:solidFill>
              <a:srgbClr val="B2D6E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58516"/>
            <a:ext cx="9383242" cy="1857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52"/>
              </a:lnSpc>
            </a:pPr>
            <a:r>
              <a:rPr lang="en-US" sz="5400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How the System Works </a:t>
            </a:r>
          </a:p>
          <a:p>
            <a:pPr algn="l">
              <a:lnSpc>
                <a:spcPts val="7452"/>
              </a:lnSpc>
            </a:pPr>
            <a:endParaRPr lang="en-US" sz="5400">
              <a:solidFill>
                <a:srgbClr val="345CAC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Freeform 7"/>
          <p:cNvSpPr/>
          <p:nvPr/>
        </p:nvSpPr>
        <p:spPr>
          <a:xfrm rot="1684551" flipH="1">
            <a:off x="15492625" y="890376"/>
            <a:ext cx="1940366" cy="2039472"/>
          </a:xfrm>
          <a:custGeom>
            <a:avLst/>
            <a:gdLst/>
            <a:ahLst/>
            <a:cxnLst/>
            <a:rect l="l" t="t" r="r" b="b"/>
            <a:pathLst>
              <a:path w="1940366" h="2039472">
                <a:moveTo>
                  <a:pt x="1940366" y="0"/>
                </a:moveTo>
                <a:lnTo>
                  <a:pt x="0" y="0"/>
                </a:lnTo>
                <a:lnTo>
                  <a:pt x="0" y="2039472"/>
                </a:lnTo>
                <a:lnTo>
                  <a:pt x="1940366" y="2039472"/>
                </a:lnTo>
                <a:lnTo>
                  <a:pt x="1940366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166731" y="1870142"/>
            <a:ext cx="14474071" cy="326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User uploads an image or enters medical data.</a:t>
            </a:r>
          </a:p>
          <a:p>
            <a:pPr marL="863599" lvl="1" indent="-431800" algn="l">
              <a:lnSpc>
                <a:spcPts val="47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models process the input and generate predictions.</a:t>
            </a:r>
          </a:p>
          <a:p>
            <a:pPr marL="863599" lvl="1" indent="-431800" algn="l">
              <a:lnSpc>
                <a:spcPts val="47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system sends the results to an LLM.</a:t>
            </a:r>
          </a:p>
          <a:p>
            <a:pPr marL="863599" lvl="1" indent="-431800" algn="l">
              <a:lnSpc>
                <a:spcPts val="47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LLM transforms them into clear, supportive feedback.</a:t>
            </a:r>
          </a:p>
          <a:p>
            <a:pPr marL="863599" lvl="1" indent="-431800" algn="l">
              <a:lnSpc>
                <a:spcPts val="47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user receives an easy-to-understand medical summary.</a:t>
            </a:r>
          </a:p>
          <a:p>
            <a:pPr algn="ctr">
              <a:lnSpc>
                <a:spcPts val="2136"/>
              </a:lnSpc>
              <a:spcBef>
                <a:spcPct val="0"/>
              </a:spcBef>
            </a:pPr>
            <a:endParaRPr lang="en-US" sz="3999">
              <a:solidFill>
                <a:srgbClr val="345CA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5143500"/>
            <a:ext cx="15924446" cy="3669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endParaRPr lang="ar-EG" sz="3999" dirty="0">
              <a:solidFill>
                <a:srgbClr val="345CAC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We built </a:t>
            </a:r>
            <a:r>
              <a:rPr lang="en-US" sz="3999" dirty="0" err="1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Doctory</a:t>
            </a:r>
            <a:r>
              <a:rPr lang="en-US" sz="3999" dirty="0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 AI step-by-step: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collection → Model training → System integration → Frontend development →LLM linking → Testing → Deployment.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endParaRPr lang="en-US" sz="3999" dirty="0">
              <a:solidFill>
                <a:srgbClr val="345CAC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ctr">
              <a:lnSpc>
                <a:spcPts val="4799"/>
              </a:lnSpc>
              <a:spcBef>
                <a:spcPct val="0"/>
              </a:spcBef>
            </a:pPr>
            <a:endParaRPr lang="en-US" sz="3999" dirty="0">
              <a:solidFill>
                <a:srgbClr val="345CA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695255" y="7940850"/>
            <a:ext cx="1259133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u="sng" dirty="0">
                <a:solidFill>
                  <a:srgbClr val="345CAC"/>
                </a:solidFill>
                <a:latin typeface="Arimo"/>
                <a:ea typeface="Arimo"/>
                <a:cs typeface="Arimo"/>
                <a:sym typeface="Arimo"/>
                <a:hlinkClick r:id="rId4" tooltip="https://doctory-pouhpcj3cmummjd5bis9m6.streamlit.app"/>
              </a:rPr>
              <a:t>https://doctory-pouhpcj3cmummjd5bis9m6.streamlit.app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9859350"/>
            <a:ext cx="18288000" cy="460800"/>
            <a:chOff x="0" y="0"/>
            <a:chExt cx="24384000" cy="61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614426"/>
            </a:xfrm>
            <a:custGeom>
              <a:avLst/>
              <a:gdLst/>
              <a:ahLst/>
              <a:cxnLst/>
              <a:rect l="l" t="t" r="r" b="b"/>
              <a:pathLst>
                <a:path w="24384000" h="614426">
                  <a:moveTo>
                    <a:pt x="24384000" y="0"/>
                  </a:moveTo>
                  <a:lnTo>
                    <a:pt x="0" y="0"/>
                  </a:lnTo>
                  <a:lnTo>
                    <a:pt x="0" y="614426"/>
                  </a:lnTo>
                  <a:lnTo>
                    <a:pt x="24384000" y="614426"/>
                  </a:lnTo>
                  <a:close/>
                </a:path>
              </a:pathLst>
            </a:custGeom>
            <a:solidFill>
              <a:srgbClr val="B2D6E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-10800000">
            <a:off x="0" y="9851550"/>
            <a:ext cx="18288000" cy="238200"/>
            <a:chOff x="0" y="0"/>
            <a:chExt cx="24384000" cy="317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17627"/>
            </a:xfrm>
            <a:custGeom>
              <a:avLst/>
              <a:gdLst/>
              <a:ahLst/>
              <a:cxnLst/>
              <a:rect l="l" t="t" r="r" b="b"/>
              <a:pathLst>
                <a:path w="24384000" h="317627">
                  <a:moveTo>
                    <a:pt x="24384000" y="0"/>
                  </a:moveTo>
                  <a:lnTo>
                    <a:pt x="0" y="0"/>
                  </a:lnTo>
                  <a:lnTo>
                    <a:pt x="0" y="317627"/>
                  </a:lnTo>
                  <a:lnTo>
                    <a:pt x="24384000" y="317627"/>
                  </a:lnTo>
                  <a:close/>
                </a:path>
              </a:pathLst>
            </a:custGeom>
            <a:solidFill>
              <a:srgbClr val="D0E7E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88137" y="786623"/>
            <a:ext cx="948509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Project Architecture</a:t>
            </a:r>
          </a:p>
          <a:p>
            <a:pPr algn="ctr">
              <a:lnSpc>
                <a:spcPts val="8400"/>
              </a:lnSpc>
            </a:pPr>
            <a:endParaRPr lang="en-US" sz="6999">
              <a:solidFill>
                <a:srgbClr val="345CAC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358720" y="2744973"/>
            <a:ext cx="4663350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Image Analysis Models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8556" y="4188903"/>
            <a:ext cx="5888036" cy="465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6"/>
              </a:lnSpc>
            </a:pPr>
            <a:endParaRPr/>
          </a:p>
          <a:p>
            <a:pPr algn="l">
              <a:lnSpc>
                <a:spcPts val="3726"/>
              </a:lnSpc>
            </a:pPr>
            <a:r>
              <a:rPr lang="en-US" sz="2700" u="sng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Diabetes </a:t>
            </a:r>
          </a:p>
          <a:p>
            <a:pPr marL="582930" lvl="1" indent="-291465" algn="l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Uses a Voting Ensemble for prediction</a:t>
            </a:r>
          </a:p>
          <a:p>
            <a:pPr algn="l">
              <a:lnSpc>
                <a:spcPts val="3726"/>
              </a:lnSpc>
            </a:pPr>
            <a:r>
              <a:rPr lang="en-US" sz="2700" u="sng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Heart Disease</a:t>
            </a:r>
          </a:p>
          <a:p>
            <a:pPr marL="582930" lvl="1" indent="-291465" algn="l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Based on a Random Forest Classifier</a:t>
            </a:r>
          </a:p>
          <a:p>
            <a:pPr algn="l">
              <a:lnSpc>
                <a:spcPts val="3726"/>
              </a:lnSpc>
            </a:pPr>
            <a:endParaRPr lang="en-US" sz="2700">
              <a:solidFill>
                <a:srgbClr val="345CAC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Provide early insights and trends in user health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6786" y="2744973"/>
            <a:ext cx="4660350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Tabular Prediction Models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66792" y="2744973"/>
            <a:ext cx="466335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LLM Integration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1151777" y="4236528"/>
            <a:ext cx="38100" cy="5021700"/>
          </a:xfrm>
          <a:prstGeom prst="line">
            <a:avLst/>
          </a:prstGeom>
          <a:ln w="19050" cap="rnd">
            <a:solidFill>
              <a:srgbClr val="345C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1440737" y="4188903"/>
            <a:ext cx="6848150" cy="4653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6"/>
              </a:lnSpc>
            </a:pPr>
            <a:endParaRPr/>
          </a:p>
          <a:p>
            <a:pPr algn="l">
              <a:lnSpc>
                <a:spcPts val="3726"/>
              </a:lnSpc>
            </a:pPr>
            <a:r>
              <a:rPr lang="en-US" sz="2700" u="sng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LLM module</a:t>
            </a:r>
          </a:p>
          <a:p>
            <a:pPr marL="582930" lvl="1" indent="-291465" algn="l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Translates numeric predictions into medical explanations</a:t>
            </a:r>
          </a:p>
          <a:p>
            <a:pPr marL="582930" lvl="1" indent="-291465" algn="l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Adds clarity, empathy, and user-friendly interpretation</a:t>
            </a:r>
          </a:p>
          <a:p>
            <a:pPr marL="582930" lvl="1" indent="-291465" algn="l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Warns users when results suggest potential risk</a:t>
            </a:r>
          </a:p>
          <a:p>
            <a:pPr marL="582930" lvl="1" indent="-291465" algn="l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Ensures the system feels human and supportive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00491" y="4636698"/>
            <a:ext cx="5325947" cy="185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6"/>
              </a:lnSpc>
              <a:spcBef>
                <a:spcPct val="0"/>
              </a:spcBef>
            </a:pPr>
            <a:r>
              <a:rPr lang="en-US" sz="2700" u="sng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Pneumonia Model</a:t>
            </a:r>
          </a:p>
          <a:p>
            <a:pPr marL="582930" lvl="1" indent="-291465" algn="l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Based on YOLO Classification</a:t>
            </a:r>
          </a:p>
          <a:p>
            <a:pPr algn="l">
              <a:lnSpc>
                <a:spcPts val="3726"/>
              </a:lnSpc>
              <a:spcBef>
                <a:spcPct val="0"/>
              </a:spcBef>
            </a:pPr>
            <a:r>
              <a:rPr lang="en-US" sz="2700" u="sng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Malaria Model</a:t>
            </a:r>
          </a:p>
          <a:p>
            <a:pPr marL="582930" lvl="1" indent="-291465" algn="l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Based on VGG Architecture</a:t>
            </a:r>
          </a:p>
        </p:txBody>
      </p:sp>
      <p:sp>
        <p:nvSpPr>
          <p:cNvPr id="14" name="AutoShape 14"/>
          <p:cNvSpPr/>
          <p:nvPr/>
        </p:nvSpPr>
        <p:spPr>
          <a:xfrm>
            <a:off x="5838566" y="4256657"/>
            <a:ext cx="38100" cy="5021700"/>
          </a:xfrm>
          <a:prstGeom prst="line">
            <a:avLst/>
          </a:prstGeom>
          <a:ln w="19050" cap="rnd">
            <a:solidFill>
              <a:srgbClr val="345C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9859350"/>
            <a:ext cx="18288000" cy="460800"/>
            <a:chOff x="0" y="0"/>
            <a:chExt cx="24384000" cy="61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614426"/>
            </a:xfrm>
            <a:custGeom>
              <a:avLst/>
              <a:gdLst/>
              <a:ahLst/>
              <a:cxnLst/>
              <a:rect l="l" t="t" r="r" b="b"/>
              <a:pathLst>
                <a:path w="24384000" h="614426">
                  <a:moveTo>
                    <a:pt x="24384000" y="0"/>
                  </a:moveTo>
                  <a:lnTo>
                    <a:pt x="0" y="0"/>
                  </a:lnTo>
                  <a:lnTo>
                    <a:pt x="0" y="614426"/>
                  </a:lnTo>
                  <a:lnTo>
                    <a:pt x="24384000" y="614426"/>
                  </a:lnTo>
                  <a:close/>
                </a:path>
              </a:pathLst>
            </a:custGeom>
            <a:solidFill>
              <a:srgbClr val="B2D6E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-10800000">
            <a:off x="0" y="9623192"/>
            <a:ext cx="18288000" cy="238200"/>
            <a:chOff x="0" y="0"/>
            <a:chExt cx="24384000" cy="317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17627"/>
            </a:xfrm>
            <a:custGeom>
              <a:avLst/>
              <a:gdLst/>
              <a:ahLst/>
              <a:cxnLst/>
              <a:rect l="l" t="t" r="r" b="b"/>
              <a:pathLst>
                <a:path w="24384000" h="317627">
                  <a:moveTo>
                    <a:pt x="24384000" y="0"/>
                  </a:moveTo>
                  <a:lnTo>
                    <a:pt x="0" y="0"/>
                  </a:lnTo>
                  <a:lnTo>
                    <a:pt x="0" y="317627"/>
                  </a:lnTo>
                  <a:lnTo>
                    <a:pt x="24384000" y="317627"/>
                  </a:lnTo>
                  <a:close/>
                </a:path>
              </a:pathLst>
            </a:custGeom>
            <a:solidFill>
              <a:srgbClr val="D0E7E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31425" y="971950"/>
            <a:ext cx="15225150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Key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50" y="3281994"/>
            <a:ext cx="6229950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Multi-modal analysis: images + tabular data.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56505" y="3346764"/>
            <a:ext cx="6229950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Conversational explanations (chat-style).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225494"/>
            <a:ext cx="6229950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Fast AI predictions powered by deep learning.</a:t>
            </a:r>
          </a:p>
        </p:txBody>
      </p:sp>
      <p:sp>
        <p:nvSpPr>
          <p:cNvPr id="10" name="Freeform 10"/>
          <p:cNvSpPr/>
          <p:nvPr/>
        </p:nvSpPr>
        <p:spPr>
          <a:xfrm rot="8100000">
            <a:off x="7999180" y="3806536"/>
            <a:ext cx="2289642" cy="2271096"/>
          </a:xfrm>
          <a:custGeom>
            <a:avLst/>
            <a:gdLst/>
            <a:ahLst/>
            <a:cxnLst/>
            <a:rect l="l" t="t" r="r" b="b"/>
            <a:pathLst>
              <a:path w="2289642" h="2271096">
                <a:moveTo>
                  <a:pt x="0" y="0"/>
                </a:moveTo>
                <a:lnTo>
                  <a:pt x="2289642" y="0"/>
                </a:lnTo>
                <a:lnTo>
                  <a:pt x="2289642" y="2271096"/>
                </a:lnTo>
                <a:lnTo>
                  <a:pt x="0" y="2271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756465" y="6337889"/>
            <a:ext cx="622995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Lightweight HTML interface for smooth use.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29025" y="7829403"/>
            <a:ext cx="6229950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  <a:spcBef>
                <a:spcPct val="0"/>
              </a:spcBef>
            </a:pPr>
            <a:r>
              <a:rPr lang="en-US" sz="29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Fully integrated backend and APIs.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9859350"/>
            <a:ext cx="18288000" cy="460800"/>
            <a:chOff x="0" y="0"/>
            <a:chExt cx="24384000" cy="61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614426"/>
            </a:xfrm>
            <a:custGeom>
              <a:avLst/>
              <a:gdLst/>
              <a:ahLst/>
              <a:cxnLst/>
              <a:rect l="l" t="t" r="r" b="b"/>
              <a:pathLst>
                <a:path w="24384000" h="614426">
                  <a:moveTo>
                    <a:pt x="24384000" y="0"/>
                  </a:moveTo>
                  <a:lnTo>
                    <a:pt x="0" y="0"/>
                  </a:lnTo>
                  <a:lnTo>
                    <a:pt x="0" y="614426"/>
                  </a:lnTo>
                  <a:lnTo>
                    <a:pt x="24384000" y="614426"/>
                  </a:lnTo>
                  <a:close/>
                </a:path>
              </a:pathLst>
            </a:custGeom>
            <a:solidFill>
              <a:srgbClr val="B2D6E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-10800000">
            <a:off x="0" y="9623192"/>
            <a:ext cx="18288000" cy="238200"/>
            <a:chOff x="0" y="0"/>
            <a:chExt cx="24384000" cy="317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17627"/>
            </a:xfrm>
            <a:custGeom>
              <a:avLst/>
              <a:gdLst/>
              <a:ahLst/>
              <a:cxnLst/>
              <a:rect l="l" t="t" r="r" b="b"/>
              <a:pathLst>
                <a:path w="24384000" h="317627">
                  <a:moveTo>
                    <a:pt x="24384000" y="0"/>
                  </a:moveTo>
                  <a:lnTo>
                    <a:pt x="0" y="0"/>
                  </a:lnTo>
                  <a:lnTo>
                    <a:pt x="0" y="317627"/>
                  </a:lnTo>
                  <a:lnTo>
                    <a:pt x="24384000" y="317627"/>
                  </a:lnTo>
                  <a:close/>
                </a:path>
              </a:pathLst>
            </a:custGeom>
            <a:solidFill>
              <a:srgbClr val="D0E7E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31425" y="849781"/>
            <a:ext cx="15225150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 Challenges We Overcame</a:t>
            </a:r>
          </a:p>
        </p:txBody>
      </p:sp>
      <p:sp>
        <p:nvSpPr>
          <p:cNvPr id="7" name="AutoShape 7"/>
          <p:cNvSpPr/>
          <p:nvPr/>
        </p:nvSpPr>
        <p:spPr>
          <a:xfrm>
            <a:off x="3520268" y="4332280"/>
            <a:ext cx="1287900" cy="38100"/>
          </a:xfrm>
          <a:prstGeom prst="line">
            <a:avLst/>
          </a:prstGeom>
          <a:ln w="19050" cap="rnd">
            <a:solidFill>
              <a:srgbClr val="345C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354443" y="3297706"/>
            <a:ext cx="1619550" cy="80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>
                <a:solidFill>
                  <a:srgbClr val="345C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03943" y="4501853"/>
            <a:ext cx="3920550" cy="955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Handling imbalanced medical datasets.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271518" y="5602597"/>
            <a:ext cx="1287900" cy="38100"/>
          </a:xfrm>
          <a:prstGeom prst="line">
            <a:avLst/>
          </a:prstGeom>
          <a:ln w="19050" cap="rnd">
            <a:solidFill>
              <a:srgbClr val="345C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8105693" y="4568023"/>
            <a:ext cx="1619550" cy="80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>
                <a:solidFill>
                  <a:srgbClr val="345C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97968" y="5883638"/>
            <a:ext cx="5537116" cy="955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Ensuring stable communication between models and APIs.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3249222" y="4497701"/>
            <a:ext cx="1287900" cy="38100"/>
          </a:xfrm>
          <a:prstGeom prst="line">
            <a:avLst/>
          </a:prstGeom>
          <a:ln w="19050" cap="rnd">
            <a:solidFill>
              <a:srgbClr val="345C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3083397" y="3463127"/>
            <a:ext cx="1619550" cy="80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>
                <a:solidFill>
                  <a:srgbClr val="345C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03</a:t>
            </a:r>
          </a:p>
        </p:txBody>
      </p:sp>
      <p:sp>
        <p:nvSpPr>
          <p:cNvPr id="15" name="AutoShape 15"/>
          <p:cNvSpPr/>
          <p:nvPr/>
        </p:nvSpPr>
        <p:spPr>
          <a:xfrm rot="9268">
            <a:off x="2078224" y="8189113"/>
            <a:ext cx="14131551" cy="0"/>
          </a:xfrm>
          <a:prstGeom prst="line">
            <a:avLst/>
          </a:prstGeom>
          <a:ln w="19050" cap="rnd">
            <a:solidFill>
              <a:srgbClr val="345C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1706443" y="4764397"/>
            <a:ext cx="437345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Improving predictions through iterative tuning.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9859350"/>
            <a:ext cx="18288000" cy="460800"/>
            <a:chOff x="0" y="0"/>
            <a:chExt cx="24384000" cy="61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614426"/>
            </a:xfrm>
            <a:custGeom>
              <a:avLst/>
              <a:gdLst/>
              <a:ahLst/>
              <a:cxnLst/>
              <a:rect l="l" t="t" r="r" b="b"/>
              <a:pathLst>
                <a:path w="24384000" h="614426">
                  <a:moveTo>
                    <a:pt x="24384000" y="0"/>
                  </a:moveTo>
                  <a:lnTo>
                    <a:pt x="0" y="0"/>
                  </a:lnTo>
                  <a:lnTo>
                    <a:pt x="0" y="614426"/>
                  </a:lnTo>
                  <a:lnTo>
                    <a:pt x="24384000" y="614426"/>
                  </a:lnTo>
                  <a:close/>
                </a:path>
              </a:pathLst>
            </a:custGeom>
            <a:solidFill>
              <a:srgbClr val="B2D6E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-10800000">
            <a:off x="0" y="9623192"/>
            <a:ext cx="18288000" cy="238200"/>
            <a:chOff x="0" y="0"/>
            <a:chExt cx="24384000" cy="317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17627"/>
            </a:xfrm>
            <a:custGeom>
              <a:avLst/>
              <a:gdLst/>
              <a:ahLst/>
              <a:cxnLst/>
              <a:rect l="l" t="t" r="r" b="b"/>
              <a:pathLst>
                <a:path w="24384000" h="317627">
                  <a:moveTo>
                    <a:pt x="24384000" y="0"/>
                  </a:moveTo>
                  <a:lnTo>
                    <a:pt x="0" y="0"/>
                  </a:lnTo>
                  <a:lnTo>
                    <a:pt x="0" y="317627"/>
                  </a:lnTo>
                  <a:lnTo>
                    <a:pt x="24384000" y="317627"/>
                  </a:lnTo>
                  <a:close/>
                </a:path>
              </a:pathLst>
            </a:custGeom>
            <a:solidFill>
              <a:srgbClr val="D0E7E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31425" y="971950"/>
            <a:ext cx="15225150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Future Potential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7281" y="5411006"/>
            <a:ext cx="4603950" cy="955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Mobile app version for easier access.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69368" y="5411006"/>
            <a:ext cx="4603950" cy="955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Expansion to more medical conditions.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01968" y="5400197"/>
            <a:ext cx="4954607" cy="144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Collaboration with healthcare professionals.</a:t>
            </a:r>
          </a:p>
          <a:p>
            <a:pPr algn="l">
              <a:lnSpc>
                <a:spcPts val="3863"/>
              </a:lnSpc>
            </a:pPr>
            <a:endParaRPr lang="en-US" sz="2799">
              <a:solidFill>
                <a:srgbClr val="345CA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30912" y="3227926"/>
            <a:ext cx="1619550" cy="134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1">
                <a:solidFill>
                  <a:srgbClr val="345C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01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683187" y="4847751"/>
            <a:ext cx="1287900" cy="38100"/>
          </a:xfrm>
          <a:prstGeom prst="line">
            <a:avLst/>
          </a:prstGeom>
          <a:ln w="19050" cap="rnd">
            <a:solidFill>
              <a:srgbClr val="345C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743662" y="3227926"/>
            <a:ext cx="1619550" cy="134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1">
                <a:solidFill>
                  <a:srgbClr val="345C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02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895937" y="4847751"/>
            <a:ext cx="1287900" cy="38100"/>
          </a:xfrm>
          <a:prstGeom prst="line">
            <a:avLst/>
          </a:prstGeom>
          <a:ln w="19050" cap="rnd">
            <a:solidFill>
              <a:srgbClr val="345C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1956412" y="3227926"/>
            <a:ext cx="1619550" cy="134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1">
                <a:solidFill>
                  <a:srgbClr val="345C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03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2108687" y="4847751"/>
            <a:ext cx="1287900" cy="38100"/>
          </a:xfrm>
          <a:prstGeom prst="line">
            <a:avLst/>
          </a:prstGeom>
          <a:ln w="19050" cap="rnd">
            <a:solidFill>
              <a:srgbClr val="345C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5307368" y="674926"/>
            <a:ext cx="2197100" cy="2553000"/>
          </a:xfrm>
          <a:custGeom>
            <a:avLst/>
            <a:gdLst/>
            <a:ahLst/>
            <a:cxnLst/>
            <a:rect l="l" t="t" r="r" b="b"/>
            <a:pathLst>
              <a:path w="2197100" h="2553000">
                <a:moveTo>
                  <a:pt x="0" y="0"/>
                </a:moveTo>
                <a:lnTo>
                  <a:pt x="2197100" y="0"/>
                </a:lnTo>
                <a:lnTo>
                  <a:pt x="2197100" y="2553000"/>
                </a:lnTo>
                <a:lnTo>
                  <a:pt x="0" y="2553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9208950"/>
            <a:ext cx="18288000" cy="1111200"/>
            <a:chOff x="0" y="0"/>
            <a:chExt cx="24384000" cy="148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81582"/>
            </a:xfrm>
            <a:custGeom>
              <a:avLst/>
              <a:gdLst/>
              <a:ahLst/>
              <a:cxnLst/>
              <a:rect l="l" t="t" r="r" b="b"/>
              <a:pathLst>
                <a:path w="24384000" h="1481582">
                  <a:moveTo>
                    <a:pt x="24384000" y="0"/>
                  </a:moveTo>
                  <a:lnTo>
                    <a:pt x="0" y="0"/>
                  </a:lnTo>
                  <a:lnTo>
                    <a:pt x="0" y="1481582"/>
                  </a:lnTo>
                  <a:lnTo>
                    <a:pt x="24384000" y="1481582"/>
                  </a:lnTo>
                  <a:close/>
                </a:path>
              </a:pathLst>
            </a:custGeom>
            <a:solidFill>
              <a:srgbClr val="B2D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4384000" cy="1538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´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0" y="8639350"/>
            <a:ext cx="18288000" cy="574200"/>
            <a:chOff x="0" y="0"/>
            <a:chExt cx="24384000" cy="765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765556"/>
            </a:xfrm>
            <a:custGeom>
              <a:avLst/>
              <a:gdLst/>
              <a:ahLst/>
              <a:cxnLst/>
              <a:rect l="l" t="t" r="r" b="b"/>
              <a:pathLst>
                <a:path w="24384000" h="765556">
                  <a:moveTo>
                    <a:pt x="24384000" y="0"/>
                  </a:moveTo>
                  <a:lnTo>
                    <a:pt x="0" y="0"/>
                  </a:lnTo>
                  <a:lnTo>
                    <a:pt x="0" y="765556"/>
                  </a:lnTo>
                  <a:lnTo>
                    <a:pt x="24384000" y="765556"/>
                  </a:lnTo>
                  <a:close/>
                </a:path>
              </a:pathLst>
            </a:custGeom>
            <a:solidFill>
              <a:srgbClr val="D0E7E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38794" y="3068339"/>
            <a:ext cx="5358750" cy="3384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863"/>
              </a:lnSpc>
            </a:pPr>
            <a:r>
              <a:rPr lang="en-US" sz="27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Doctory AI demonstrates how technology can support early health screening and empower</a:t>
            </a:r>
          </a:p>
          <a:p>
            <a:pPr algn="l" rtl="1">
              <a:lnSpc>
                <a:spcPts val="3863"/>
              </a:lnSpc>
            </a:pPr>
            <a:r>
              <a:rPr lang="ar-EG" sz="27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  <a:rtl/>
              </a:rPr>
              <a:t> ,</a:t>
            </a:r>
            <a:r>
              <a:rPr lang="en-US" sz="27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patients with clear understandable insights</a:t>
            </a:r>
          </a:p>
          <a:p>
            <a:pPr algn="l" rtl="1">
              <a:lnSpc>
                <a:spcPts val="3863"/>
              </a:lnSpc>
            </a:pPr>
            <a:r>
              <a:rPr lang="ar-EG" sz="27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  <a:rtl/>
              </a:rPr>
              <a:t> </a:t>
            </a:r>
            <a:r>
              <a:rPr lang="en-US" sz="2799">
                <a:solidFill>
                  <a:srgbClr val="345CAC"/>
                </a:solidFill>
                <a:latin typeface="IBM Plex Sans"/>
                <a:ea typeface="IBM Plex Sans"/>
                <a:cs typeface="IBM Plex Sans"/>
                <a:sym typeface="IBM Plex Sans"/>
              </a:rPr>
              <a:t>It’s a step toward more accessible, AI-driven healthcare</a:t>
            </a:r>
          </a:p>
        </p:txBody>
      </p:sp>
      <p:sp>
        <p:nvSpPr>
          <p:cNvPr id="8" name="Freeform 8"/>
          <p:cNvSpPr/>
          <p:nvPr/>
        </p:nvSpPr>
        <p:spPr>
          <a:xfrm>
            <a:off x="9659186" y="3638542"/>
            <a:ext cx="6884915" cy="5011537"/>
          </a:xfrm>
          <a:custGeom>
            <a:avLst/>
            <a:gdLst/>
            <a:ahLst/>
            <a:cxnLst/>
            <a:rect l="l" t="t" r="r" b="b"/>
            <a:pathLst>
              <a:path w="6884915" h="5011537">
                <a:moveTo>
                  <a:pt x="0" y="0"/>
                </a:moveTo>
                <a:lnTo>
                  <a:pt x="6884916" y="0"/>
                </a:lnTo>
                <a:lnTo>
                  <a:pt x="6884916" y="5011538"/>
                </a:lnTo>
                <a:lnTo>
                  <a:pt x="0" y="50115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368677" y="2305825"/>
            <a:ext cx="2454726" cy="4956696"/>
          </a:xfrm>
          <a:custGeom>
            <a:avLst/>
            <a:gdLst/>
            <a:ahLst/>
            <a:cxnLst/>
            <a:rect l="l" t="t" r="r" b="b"/>
            <a:pathLst>
              <a:path w="2454726" h="4956696">
                <a:moveTo>
                  <a:pt x="0" y="0"/>
                </a:moveTo>
                <a:lnTo>
                  <a:pt x="2454726" y="0"/>
                </a:lnTo>
                <a:lnTo>
                  <a:pt x="2454726" y="4956696"/>
                </a:lnTo>
                <a:lnTo>
                  <a:pt x="0" y="49566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484105" y="2550525"/>
            <a:ext cx="2222840" cy="4224102"/>
          </a:xfrm>
          <a:custGeom>
            <a:avLst/>
            <a:gdLst/>
            <a:ahLst/>
            <a:cxnLst/>
            <a:rect l="l" t="t" r="r" b="b"/>
            <a:pathLst>
              <a:path w="2222840" h="4224102">
                <a:moveTo>
                  <a:pt x="0" y="0"/>
                </a:moveTo>
                <a:lnTo>
                  <a:pt x="2222840" y="0"/>
                </a:lnTo>
                <a:lnTo>
                  <a:pt x="2222840" y="4224102"/>
                </a:lnTo>
                <a:lnTo>
                  <a:pt x="0" y="42241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9646" r="-209555" b="-4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1117821" y="5191125"/>
            <a:ext cx="483673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345CAC"/>
                </a:solidFill>
                <a:latin typeface="Roboto Slab"/>
                <a:ea typeface="Roboto Slab"/>
                <a:cs typeface="Roboto Slab"/>
                <a:sym typeface="Roboto Slab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477</Words>
  <Application>Microsoft Office PowerPoint</Application>
  <PresentationFormat>Custom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 MT Pro</vt:lpstr>
      <vt:lpstr>Arial</vt:lpstr>
      <vt:lpstr>IBM Plex Sans</vt:lpstr>
      <vt:lpstr>Roboto Slab Bold</vt:lpstr>
      <vt:lpstr>Calibri</vt:lpstr>
      <vt:lpstr>Arimo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Epidemiology Study on Infectious Diseases Thesis Defense by Slidesgo.pptx</dc:title>
  <cp:lastModifiedBy>جاسمين محمد عبد المنعم محمد فهمى</cp:lastModifiedBy>
  <cp:revision>2</cp:revision>
  <dcterms:created xsi:type="dcterms:W3CDTF">2006-08-16T00:00:00Z</dcterms:created>
  <dcterms:modified xsi:type="dcterms:W3CDTF">2025-12-09T02:09:29Z</dcterms:modified>
  <dc:identifier>DAG6iHMQfPs</dc:identifier>
</cp:coreProperties>
</file>